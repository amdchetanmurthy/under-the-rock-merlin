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3" r:id="rId14"/>
    <p:sldId id="266" r:id="rId15"/>
    <p:sldId id="278" r:id="rId16"/>
    <p:sldId id="272" r:id="rId17"/>
    <p:sldId id="274" r:id="rId18"/>
    <p:sldId id="277" r:id="rId19"/>
    <p:sldId id="270" r:id="rId20"/>
    <p:sldId id="271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C41BB-E1B6-48C2-96D6-FBFD4ED4F6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65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mdcloud.sharepoint.com/:x:/r/sites/AIGROCm/Documents/9%20-%20NPI/NPI%20Ops/Firmware/Instinct/BKC%20Modules.xlsx?d=w744c4a93b94648c1bc98b4ee48edf776&amp;csf=1&amp;web=1&amp;e=T5V7VP&amp;nav=MTVfe0VBMjczRTg3LUYwRkUtNEI3Ny05MkYxLUQ5REM2MUQ3RTVFQX0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0000"/>
                </a:solidFill>
              </a:rPr>
              <a:t>UnderTheRock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A4A4A"/>
                </a:solidFill>
              </a:rPr>
              <a:t>Making the Complete GPU Stack as Simple to Develop As ROCm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4A4A"/>
                </a:solidFill>
              </a:rPr>
              <a:t>Aligning firmware and kernel development with theRock's direction for ROCm 7.0+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Presented by: Chris Sosa
Date: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UnderTheRock — One Unified Platform for the Complete GPU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What it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Aligns firmware (IFWI) and kernel driver development with theRock's direction for ROCm 7.0+. Makes developing on the complete GPU stack—from firmware through ROCm—as straightforward as developing on ROCm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The Problem: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Fragmented tooling — Different tools, workflows, infrastructure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Trunk frequently broken — No pre-submit testing; 24-48h regression detection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No shared baseline — Developers guess which I×K×R combos work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QA-driven triage — Developers brought in reactively days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The Solution — Three Principles: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Trunk is Shippable — Pre-submit gates, revert-first (&lt;4h), nightly LKG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Simplified Codebase — GitHub consolidation, one CI platform, one LKG manifest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Consistent, Comprehensive, Reproducible Releases — Manifest-driven BKC, 18×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Key Benefits: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For Developers: Trunk always usable, 30-min feedback, zero friction baseline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For AMD: 96% faster regression detection, 18× test coverage, fewer field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Timeline: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>
                <a:solidFill>
                  <a:srgbClr val="1A1A1A"/>
                </a:solidFill>
              </a:rPr>
              <a:t>Phased rollout </a:t>
            </a:r>
            <a:r>
              <a:rPr sz="1200" b="0">
                <a:solidFill>
                  <a:srgbClr val="1A1A1A"/>
                </a:solidFill>
              </a:rPr>
              <a:t>(PoC </a:t>
            </a:r>
            <a:r>
              <a:rPr lang="en-US" sz="1200" b="0">
                <a:solidFill>
                  <a:srgbClr val="1A1A1A"/>
                </a:solidFill>
              </a:rPr>
              <a:t>first to determine </a:t>
            </a:r>
            <a:r>
              <a:rPr sz="1200" b="0">
                <a:solidFill>
                  <a:srgbClr val="1A1A1A"/>
                </a:solidFill>
              </a:rPr>
              <a:t>build mechanics; </a:t>
            </a:r>
            <a:r>
              <a:rPr lang="en-US" sz="1200" b="0">
                <a:solidFill>
                  <a:srgbClr val="1A1A1A"/>
                </a:solidFill>
              </a:rPr>
              <a:t>progressive delivery through phases</a:t>
            </a:r>
            <a:r>
              <a:rPr sz="1200" b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</a:rPr>
              <a:t>UnderTheRock Executive Briefing | Chris Sosa |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The Problem — Development is Unnecessarily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Fragmented Tools, Broken Trunk, No Shared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"Will my IFWI change work with the latest kernel? With ROCm 7.1?
I won't know until QA runs tests tomorrow night."
"I pulled latest ifwi/main this morning. It doesn't boot.
I'll check Slack to see if anyone knows which commit broke it."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What Makes Development Hard: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Fragmented tooling — IFWI uses DCAuto + Conductor + IFWI Builder + Perforce; kernel uses Jenkins + Gerrit; ROCm uses theRock + GitHub Actions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Trunk frequently broken — No pre-submit testing for IFWI or kernel; bad commits sit undetected for 24-48 hours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No shared baseline — No LKG manifest; developers guess which IFWI/kernel/ROCm combinations work together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QA-driven triage — Regressions found downstream; developers brought in reactively days after committing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Testing gap — Only 1 I×K×R combination tested per week; compatibility matrix not systematically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>
                <a:solidFill>
                  <a:srgbClr val="008A00"/>
                </a:solidFill>
              </a:rPr>
              <a:t>Root cause: Testing and release infrastructure are fragmented, downstream of development, and QA-centric. Developers lack tools to own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Solution Principle 1 — Trunk is Shippable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Shift-Left: Pre-Submit Gates + Revert-First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What this means: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Every commit tested before merge — 30-minute pre-submit validation (SimNow + hardware smoke tests)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Trunk always usable — Bad commits never land; PRs blocked if they break tests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Revert-first culture — Regressions reverted within 4 hours (not debugged in place)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Nightly LKG promotion — Full stack passes validation (18 builds across 6 products) → LKG manifest updated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Developer-owned triage — Component TLs rotate as 'gardeners' to keep trunk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Developer Experience Before vs. After: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4A4A"/>
                </a:solidFill>
              </a:rPr>
              <a:t>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Commit Monday
  ↓
Wait for nightly (Tuesday night)
  ↓
QA finds regression (Wednesday)
  ↓
Debug Thursday (what was I thinking?)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008A00"/>
                </a:solidFill>
              </a:rPr>
              <a:t>WITH UNDERTHEROCK: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Open PR
  ↓
Pre-submit runs automatically (&lt;30 min)
  ↓
Pass → Merge | Fail → Fix before merging
  ↓
Trunk stays green, everyone unblocked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008A00"/>
                </a:solidFill>
              </a:rPr>
              <a:t>Benefit: Time to detect regression: 24-48 hours → &lt;30 min (96% faster)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Solution Principle 2 — Simplified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One Platform, One Workflow, One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What this means: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GitHub consolidation — Perforce, Gerrit, Cerberus migrate to GitHub (Cloud/EMU/On-Prem ER)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One CI platform — GitHub Actions for all three layers (no more DCAuto scripts + Jenkins jobs + theRock workflows)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One LKG manifest — Single lkg-manifest.yaml contains validated SHAs for IFWI + kernel + ROCm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One branching model — Chrome OS-style: development on main, firmware branches cut at tapeout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Three groups of repositories — amd/ifwi, amd/kernel, ROCm/TheRock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Developer Experience: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4A4A"/>
                </a:solidFill>
              </a:rPr>
              <a:t>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"Which Perforce branch has MI300X PSP?"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"Which Jenkins job for kernel tests?"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"Do these versions work together?"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"How do I test this change?"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008A00"/>
                </a:solidFill>
              </a:rPr>
              <a:t>WITH UNDERTHEROCK: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Clone the super repo you need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Read lkg-manifest.yaml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Open PRs the same way for all repos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Same CI, same workflow, same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Benefit: CI platforms: 3 systems → 1 system (67% reduction) | Note: Exact repository structure and build mechanics are TBD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213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Solution Principle 3 — Consistent, Comprehensive, Reproducible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1A1A1A"/>
                </a:solidFill>
              </a:rPr>
              <a:t>
Manifest-Driven Traceability + Matrix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What this means: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097280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Nightly LKG promotion — 18 builds pass → LKG manifest updated daily</a:t>
            </a:r>
            <a:endParaRPr lang="en-US"/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BKC releases from manifests — Weekly BKC is promoted LKG manifest + git tags across all repos</a:t>
            </a:r>
            <a:endParaRPr lang="en-US"/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Matrix testing — Nightly: bleeding-edge I×K×R combos; Weekly: N-1, N-2 compatibility validation</a:t>
            </a:r>
            <a:endParaRPr lang="en-US"/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Automated changelogs — git log &lt;last-tag&gt;..&lt;this-tag&gt; across all repos</a:t>
            </a:r>
            <a:endParaRPr lang="en-US"/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Release branches visible — firmware-mi300x.B, kernel-6.8.x, rocm-7.1.x in GitHub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Developer Experience: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>
                <a:solidFill>
                  <a:srgbClr val="4A4A4A"/>
                </a:solidFill>
              </a:rPr>
              <a:t>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02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Customer reports BKC 25.12 failure
  ↓
Search Confluence for IFWI version
  ↓
Find kernel build number in JIRA
  ↓
Guess </a:t>
            </a:r>
            <a:r>
              <a:rPr lang="en-US" sz="1200" b="0" err="1">
                <a:solidFill>
                  <a:srgbClr val="1A1A1A"/>
                </a:solidFill>
              </a:rPr>
              <a:t>ROCm</a:t>
            </a:r>
            <a:r>
              <a:rPr sz="1200" b="0">
                <a:solidFill>
                  <a:srgbClr val="1A1A1A"/>
                </a:solidFill>
              </a:rPr>
              <a:t> version from release notes
  ↓
Manually reconstruct (1-2 hours)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>
                <a:solidFill>
                  <a:srgbClr val="008A00"/>
                </a:solidFill>
              </a:rPr>
              <a:t>WITH UNDERTHEROCK: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502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Check manifest:
  { </a:t>
            </a:r>
            <a:r>
              <a:rPr lang="en-US" sz="1200" b="0" err="1">
                <a:solidFill>
                  <a:srgbClr val="1A1A1A"/>
                </a:solidFill>
              </a:rPr>
              <a:t>ifwi</a:t>
            </a:r>
            <a:r>
              <a:rPr sz="1200" b="0">
                <a:solidFill>
                  <a:srgbClr val="1A1A1A"/>
                </a:solidFill>
              </a:rPr>
              <a:t>: abc1234,
    kernel: def5678,
    </a:t>
            </a:r>
            <a:r>
              <a:rPr lang="en-US" sz="1200" b="0" err="1">
                <a:solidFill>
                  <a:srgbClr val="1A1A1A"/>
                </a:solidFill>
              </a:rPr>
              <a:t>rocm</a:t>
            </a:r>
            <a:r>
              <a:rPr sz="1200" b="0">
                <a:solidFill>
                  <a:srgbClr val="1A1A1A"/>
                </a:solidFill>
              </a:rPr>
              <a:t>: ghi9012 }
  ↓
git checkout those SHAs
  ↓
Reproduce exact customer env (5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008A00"/>
                </a:solidFill>
              </a:rPr>
              <a:t>Benefit: BKC reproducibility: 1-2 hours manual → 5 min automated (95% faster)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How These Principles Simplify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Workflow Comparison — Today vs. UnderTheRock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4A4A"/>
                </a:solidFill>
              </a:rPr>
              <a:t>Today (Fragmented):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Developer wants to test firmware change: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Find hardware (Conductor Web, manual reservation)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Figure out which DCAuto command to run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Check if kernel on that system is compatible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Flash IFWI (hope it doesn't brick the system)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Reboot, check dmesg, collect logs manually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Compare against... what? (no baseline)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If it breaks, file bug for QA to investigate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008A00"/>
                </a:solidFill>
              </a:rPr>
              <a:t>With UnderTheRock (Unified):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Developer wants to test firmware change: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Open PR on amd/ifwi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GitHub Actions runs pre-submit automatically: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  • Fetches LKG kernel + ROCm SHAs from manifest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  • Builds IFWI from PR branch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  • Runs SimNow on 6 products (required)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  • Reserves hardware via DCAuto, flashes, boots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PR shows pass/fail in &lt;30 min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If green, merge. If red, fix.</a:t>
            </a:r>
          </a:p>
          <a:p>
            <a:pPr>
              <a:spcAft>
                <a:spcPts val="800"/>
              </a:spcAft>
              <a:defRPr sz="1200">
                <a:solidFill>
                  <a:srgbClr val="1A1A1A"/>
                </a:solidFill>
              </a:defRPr>
            </a:pPr>
            <a:r>
              <a:t>Trunk stays green. Everyone downstream unblocked.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solidFill>
                  <a:srgbClr val="008A00"/>
                </a:solidFill>
              </a:rPr>
              <a:t>The difference: Complexity handled by automation. Developer focuses on code, not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Quantified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Impact on Development Velocity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Key Improvements: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Time to detect regression: 24-48 hours → &lt;30 min (96% faster)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Trunk usability: Frequently broken → Always usable (100% uptime)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Nightly test coverage: 1 I×K×R combination → 18 I×K×R combinations (18× coverage)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BKC reproducibility: 1-2 hours (Confluence) → 5 min (git checkout) (95% faster)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CI platforms: 3 systems → 1 system (GitHub Actions) (67% reduction)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Developer onboarding: Weeks (tribal knowledge) → Days (documented, visible)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Developer Workflow Improvements: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"Is trunk safe to pull?" — Unknown (check Slack) → Always (LKG guarantee) — Zero friction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"Which I×K×R combo works?" — 30 min (Confluence) → 5 sec (read manifest) — 99.7% faster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"Submit hardware test" — 30 min (manual DCAuto) → 0 min (automated in PR) — 100%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>
                <a:solidFill>
                  <a:srgbClr val="008A00"/>
                </a:solidFill>
              </a:rPr>
              <a:t>Bottom line: UnderTheRock removes complexity barriers so developers spend time writing code, not navigating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Strategic Alignment with theRock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One Unified Platform Across the Complete GPU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</a:rPr>
              <a:t>theRock's Three Principles (ROCm 7.0+)
Now applied to IFWI + kernel via UnderTheRock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1. TRUNK IS SHIPPABLE
• Pre-submit gates  • Revert-first (&lt;4h SLA)  • Nightly LKG promotion  • Developer-owned gardening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2. SIMPLIFIED CODEBASE
• GitHub consolidation  • One CI platform (GitHub Actions)  • One LKG manifest  • Unified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3. CONSISTENT, COMPREHENSIVE, REPRODUCIBLE
• Manifest-driven BKC  • Matrix testing (18× nightly coverage)  • Automated changelogs  • Full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Before vs. After: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ROCm:    theRock (unified repos, pre-submits, LKG, gardening) → theRock (same)
Kernel:  Jenkins + Gerrit, QA-gated, no LKG, no pre-submits → Same as theRock ✓
IFWI:    DCAuto + Perforce, QA-gated, no LKG, no pre-submits → Same as theRock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rgbClr val="008A00"/>
                </a:solidFill>
              </a:rPr>
              <a:t>Result: One unified platform. Developers work the same way across all three layers.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Unified Testing Architecture — How Teams Integrate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One LKG Flow — Teams Plug In Tests at the Right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Testing Flow: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029200" cy="914400"/>
          </a:xfrm>
          <a:prstGeom prst="roundRect">
            <a:avLst/>
          </a:prstGeom>
          <a:solidFill>
            <a:srgbClr val="DCDCDC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PRE-SUBMIT (&lt; 30 min) — GHA Workflows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EAM: IFWI (SimNow 6 products), Kernel (Kbuild)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ROCm (theRock pre-submits)</a:t>
            </a:r>
          </a:p>
          <a:p>
            <a:pPr>
              <a:defRPr sz="1100" b="1">
                <a:solidFill>
                  <a:srgbClr val="008A00"/>
                </a:solidFill>
              </a:defRPr>
            </a:pPr>
            <a:r>
              <a:t>→ BLOCKS MERGE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43200" y="3108960"/>
            <a:ext cx="457200" cy="27432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5029200" cy="118872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NIGHTLY CONTINUOUS (2-4 hrs)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EAM: IFWI (Racer+HW 6 products), Kernel (stress)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ROCm (theRock nightlies), MI450 mini-rack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Target: Unified LKG | Transition: Independent</a:t>
            </a:r>
          </a:p>
          <a:p>
            <a:pPr>
              <a:defRPr sz="1100" b="1">
                <a:solidFill>
                  <a:srgbClr val="008A00"/>
                </a:solidFill>
              </a:defRPr>
            </a:pPr>
            <a:r>
              <a:t>→ LKG PROMOTION (quorum required)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43200" y="4754880"/>
            <a:ext cx="457200" cy="27432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5029200" cy="822960"/>
          </a:xfrm>
          <a:prstGeom prst="roundRect">
            <a:avLst/>
          </a:prstGeom>
          <a:solidFill>
            <a:srgbClr val="DCDCDC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WEEKLY RELEASE — Long-Duration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EAM: IFWI regression, Kernel IP+perf, ROCm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• MI450 full rack (week-long),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EAM BKC vs. Other Components: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2560320" cy="365760"/>
          </a:xfrm>
          <a:prstGeom prst="rect">
            <a:avLst/>
          </a:prstGeom>
          <a:solidFill>
            <a:srgbClr val="007ACC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EAM BKC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103120"/>
            <a:ext cx="2560320" cy="365760"/>
          </a:xfrm>
          <a:prstGeom prst="rect">
            <a:avLst/>
          </a:prstGeom>
          <a:solidFill>
            <a:srgbClr val="4A4A4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Other Components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560320"/>
            <a:ext cx="2560320" cy="594360"/>
          </a:xfrm>
          <a:prstGeom prst="rect">
            <a:avLst/>
          </a:prstGeom>
          <a:solidFill>
            <a:srgbClr val="E6F2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IFWI: SimNow, Racer,</a:t>
            </a:r>
            <a:br/>
            <a:r>
              <a:t>hardware on 6 products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560320"/>
            <a:ext cx="25603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MI450: Rack-level</a:t>
            </a:r>
            <a:br/>
            <a:r>
              <a:t>recipe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200400"/>
            <a:ext cx="2560320" cy="594360"/>
          </a:xfrm>
          <a:prstGeom prst="rect">
            <a:avLst/>
          </a:prstGeom>
          <a:solidFill>
            <a:srgbClr val="E6F2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Kernel: Weekly BKC</a:t>
            </a:r>
            <a:br/>
            <a:r>
              <a:t>(stress, SRIOV, IP)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200400"/>
            <a:ext cx="25603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CPU BKC: Independent</a:t>
            </a:r>
            <a:br/>
            <a:r>
              <a:t>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840480"/>
            <a:ext cx="2560320" cy="594360"/>
          </a:xfrm>
          <a:prstGeom prst="rect">
            <a:avLst/>
          </a:prstGeom>
          <a:solidFill>
            <a:srgbClr val="E6F2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ROCm: theRock</a:t>
            </a:r>
            <a:br/>
            <a:r>
              <a:t>nightlies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840480"/>
            <a:ext cx="25603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Platform components:</a:t>
            </a:r>
            <a:br/>
            <a:r>
              <a:t>various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480560"/>
            <a:ext cx="2560320" cy="594360"/>
          </a:xfrm>
          <a:prstGeom prst="rect">
            <a:avLst/>
          </a:prstGeom>
          <a:solidFill>
            <a:srgbClr val="E6F2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Primary targets</a:t>
            </a:r>
            <a:br/>
            <a:r>
              <a:t>from day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480560"/>
            <a:ext cx="25603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Flexible timeline,</a:t>
            </a:r>
            <a:br/>
            <a:r>
              <a:t>plug in when 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120640"/>
            <a:ext cx="2560320" cy="594360"/>
          </a:xfrm>
          <a:prstGeom prst="rect">
            <a:avLst/>
          </a:prstGeom>
          <a:solidFill>
            <a:srgbClr val="E6F2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Contribute to LKG</a:t>
            </a:r>
            <a:br/>
            <a:r>
              <a:t>quorum (target)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5120640"/>
            <a:ext cx="25603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Run independently</a:t>
            </a:r>
            <a:br/>
            <a:r>
              <a:t>initially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A00"/>
                </a:solidFill>
              </a:rPr>
              <a:t>EAM BKC is primary integration target from day 1. Other components integrate when ready.
Target: One LKG flow with clear integration points (GHA workflows, results API, manifests).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Roles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Starting with EAM BKC (IFWI + Kernel + ROCm)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>
                <a:solidFill>
                  <a:srgbClr val="007ACC"/>
                </a:solidFill>
              </a:rPr>
              <a:t>EAM BKC COMPONENT OWNERSHIP (First Step)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200400" cy="16459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IFWI</a:t>
            </a:r>
          </a:p>
          <a:p>
            <a:pPr algn="ctr">
              <a:defRPr sz="1000">
                <a:solidFill>
                  <a:srgbClr val="4A4A4A"/>
                </a:solidFill>
              </a:defRPr>
            </a:pPr>
            <a:r>
              <a:t>PFO IFWI Team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PSP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MPIO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PMFW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RAS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UMC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VBL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103120"/>
            <a:ext cx="3200400" cy="16459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Kernel</a:t>
            </a:r>
          </a:p>
          <a:p>
            <a:pPr algn="ctr">
              <a:defRPr sz="1000">
                <a:solidFill>
                  <a:srgbClr val="4A4A4A"/>
                </a:solidFill>
              </a:defRPr>
            </a:pPr>
            <a:r>
              <a:t>RTG Kernel Team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amdgpu driver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Feature impl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Component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03120"/>
            <a:ext cx="3200400" cy="16459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ROCm</a:t>
            </a:r>
          </a:p>
          <a:p>
            <a:pPr algn="ctr">
              <a:defRPr sz="1000">
                <a:solidFill>
                  <a:srgbClr val="4A4A4A"/>
                </a:solidFill>
              </a:defRPr>
            </a:pPr>
            <a:r>
              <a:t>ROCm Teams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Runtime (HIP, ROCr)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Libraries (rocBLAS, rocFFT)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Frameworks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051560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4A4A4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4A4A"/>
                </a:solidFill>
              </a:defRPr>
            </a:pPr>
            <a:r>
              <a:t>Other BKCs (Future Integration)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CPU • HPM • DCSCM • NIC • AI NIC (binary) • Storage • Non-EAM Compute • AIFM • SwitchOS (binary) • Tools • Diags • RMC/Switches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ACC"/>
                </a:solidFill>
              </a:rPr>
              <a:t>↕ COORDINATION 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A00"/>
                </a:solidFill>
              </a:rPr>
              <a:t>UNDERTHEROCK GARDENING (NEW - EAM BKC Coordination)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IFWI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Kernel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ROCm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 (RFC0002)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749039" y="5760720"/>
            <a:ext cx="320040" cy="182880"/>
          </a:xfrm>
          <a:prstGeom prst="leftRight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-Right Arrow 15"/>
          <p:cNvSpPr/>
          <p:nvPr/>
        </p:nvSpPr>
        <p:spPr>
          <a:xfrm>
            <a:off x="7406640" y="5760720"/>
            <a:ext cx="320040" cy="182880"/>
          </a:xfrm>
          <a:prstGeom prst="leftRight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20116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56692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93268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00400" y="6446520"/>
            <a:ext cx="5486400" cy="3657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rPr lang="en-US"/>
              <a:t>Platform Integration Gardener  •  Rack-level tests (MI450)  •  Cross-layer coord  •  L2 escalation</a:t>
            </a:r>
          </a:p>
        </p:txBody>
      </p:sp>
      <p:sp>
        <p:nvSpPr>
          <p:cNvPr id="35" name="Rounded Rectangle 6"/>
          <p:cNvSpPr/>
          <p:nvPr/>
        </p:nvSpPr>
        <p:spPr>
          <a:xfrm>
            <a:off x="4114800" y="2103120"/>
            <a:ext cx="3200400" cy="16459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Kernel</a:t>
            </a:r>
          </a:p>
          <a:p>
            <a:pPr algn="ctr">
              <a:defRPr sz="1000">
                <a:solidFill>
                  <a:srgbClr val="4A4A4A"/>
                </a:solidFill>
              </a:defRPr>
            </a:pPr>
            <a:r>
              <a:t>RTG Kernel Team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amdgpu driver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Feature impl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Component testing</a:t>
            </a:r>
          </a:p>
        </p:txBody>
      </p:sp>
      <p:sp>
        <p:nvSpPr>
          <p:cNvPr id="36" name="Rounded Rectangle 7"/>
          <p:cNvSpPr/>
          <p:nvPr/>
        </p:nvSpPr>
        <p:spPr>
          <a:xfrm>
            <a:off x="7772400" y="2103120"/>
            <a:ext cx="3200400" cy="16459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ROCm</a:t>
            </a:r>
          </a:p>
          <a:p>
            <a:pPr algn="ctr">
              <a:defRPr sz="1000">
                <a:solidFill>
                  <a:srgbClr val="4A4A4A"/>
                </a:solidFill>
              </a:defRPr>
            </a:pPr>
            <a:r>
              <a:t>ROCm Teams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Runtime (HIP, ROCr)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Libraries (rocBLAS, rocFFT)</a:t>
            </a:r>
          </a:p>
          <a:p>
            <a:pPr>
              <a:spcAft>
                <a:spcPts val="200"/>
              </a:spcAft>
              <a:defRPr sz="900">
                <a:solidFill>
                  <a:srgbClr val="1A1A1A"/>
                </a:solidFill>
              </a:defRPr>
            </a:pPr>
            <a:r>
              <a:t>• Frameworks</a:t>
            </a:r>
          </a:p>
        </p:txBody>
      </p:sp>
      <p:sp>
        <p:nvSpPr>
          <p:cNvPr id="37" name="Rounded Rectangle 8"/>
          <p:cNvSpPr/>
          <p:nvPr/>
        </p:nvSpPr>
        <p:spPr>
          <a:xfrm>
            <a:off x="457200" y="3840480"/>
            <a:ext cx="1051560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4A4A4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4A4A"/>
                </a:solidFill>
              </a:defRPr>
            </a:pPr>
            <a:r>
              <a:t>Other BKCs (Future Integration)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CPU • HPM • DCSCM • NIC • AI NIC (binary) • Storage • Non-EAM Compute • AIFM • SwitchOS (binary) • Tools • Diags • RMC/Switches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ACC"/>
                </a:solidFill>
              </a:rPr>
              <a:t>↕ COORDINATION 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A00"/>
                </a:solidFill>
              </a:rPr>
              <a:t>UNDERTHEROCK GARDENING (NEW - EAM BKC Coordination)</a:t>
            </a:r>
          </a:p>
        </p:txBody>
      </p:sp>
      <p:sp>
        <p:nvSpPr>
          <p:cNvPr id="40" name="Rounded Rectangle 11"/>
          <p:cNvSpPr/>
          <p:nvPr/>
        </p:nvSpPr>
        <p:spPr>
          <a:xfrm>
            <a:off x="4572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IFWI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41" name="Rounded Rectangle 12"/>
          <p:cNvSpPr/>
          <p:nvPr/>
        </p:nvSpPr>
        <p:spPr>
          <a:xfrm>
            <a:off x="41148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Kernel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42" name="Rounded Rectangle 13"/>
          <p:cNvSpPr/>
          <p:nvPr/>
        </p:nvSpPr>
        <p:spPr>
          <a:xfrm>
            <a:off x="7772400" y="5212080"/>
            <a:ext cx="3200400" cy="137160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A00"/>
                </a:solidFill>
              </a:defRPr>
            </a:pPr>
            <a:r>
              <a:t>ROCm Gardener</a:t>
            </a:r>
          </a:p>
          <a:p>
            <a:pPr algn="ctr">
              <a:defRPr sz="900">
                <a:solidFill>
                  <a:srgbClr val="4A4A4A"/>
                </a:solidFill>
              </a:defRPr>
            </a:pPr>
            <a:r>
              <a:t>Weekly Rotation (RFC0002)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Monitor CI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Triage to owners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4h revert</a:t>
            </a:r>
          </a:p>
          <a:p>
            <a:pPr>
              <a:spcAft>
                <a:spcPts val="100"/>
              </a:spcAft>
              <a:defRPr sz="800">
                <a:solidFill>
                  <a:srgbClr val="1A1A1A"/>
                </a:solidFill>
              </a:defRPr>
            </a:pPr>
            <a:r>
              <a:t>• LKG auth</a:t>
            </a:r>
          </a:p>
        </p:txBody>
      </p:sp>
      <p:sp>
        <p:nvSpPr>
          <p:cNvPr id="43" name="Left-Right Arrow 14"/>
          <p:cNvSpPr/>
          <p:nvPr/>
        </p:nvSpPr>
        <p:spPr>
          <a:xfrm>
            <a:off x="3749039" y="5760720"/>
            <a:ext cx="320040" cy="182880"/>
          </a:xfrm>
          <a:prstGeom prst="leftRight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eft-Right Arrow 15"/>
          <p:cNvSpPr/>
          <p:nvPr/>
        </p:nvSpPr>
        <p:spPr>
          <a:xfrm>
            <a:off x="7406640" y="5760720"/>
            <a:ext cx="320040" cy="182880"/>
          </a:xfrm>
          <a:prstGeom prst="leftRight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own Arrow 16"/>
          <p:cNvSpPr/>
          <p:nvPr/>
        </p:nvSpPr>
        <p:spPr>
          <a:xfrm>
            <a:off x="20116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Down Arrow 17"/>
          <p:cNvSpPr/>
          <p:nvPr/>
        </p:nvSpPr>
        <p:spPr>
          <a:xfrm>
            <a:off x="56692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own Arrow 18"/>
          <p:cNvSpPr/>
          <p:nvPr/>
        </p:nvSpPr>
        <p:spPr>
          <a:xfrm>
            <a:off x="9326880" y="6263640"/>
            <a:ext cx="228600" cy="182880"/>
          </a:xfrm>
          <a:prstGeom prst="downArrow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9"/>
          <p:cNvSpPr/>
          <p:nvPr/>
        </p:nvSpPr>
        <p:spPr>
          <a:xfrm>
            <a:off x="3200400" y="6446520"/>
            <a:ext cx="5486400" cy="365760"/>
          </a:xfrm>
          <a:prstGeom prst="roundRect">
            <a:avLst/>
          </a:prstGeom>
          <a:solidFill>
            <a:srgbClr val="E6F2FA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>
              <a:defRPr sz="1000" b="1">
                <a:solidFill>
                  <a:srgbClr val="008A00"/>
                </a:solidFill>
              </a:defRPr>
            </a:pPr>
            <a:r>
              <a:t>Rack Integration Gardener  •  Rack-level tests (MI355, MI450)  •  EAM BKC coord  •  L2 escalation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931D2-2B87-C2C0-A053-D9D9E9B2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7CAC-8F67-3621-05CF-5A2867B5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68" y="263595"/>
            <a:ext cx="10997878" cy="486318"/>
          </a:xfrm>
        </p:spPr>
        <p:txBody>
          <a:bodyPr>
            <a:normAutofit fontScale="90000"/>
          </a:bodyPr>
          <a:lstStyle/>
          <a:p>
            <a:r>
              <a:rPr lang="en-US" err="1">
                <a:ea typeface="Calibri"/>
                <a:cs typeface="Calibri"/>
              </a:rPr>
              <a:t>UnderTheRock</a:t>
            </a:r>
            <a:r>
              <a:rPr lang="en-US">
                <a:ea typeface="Calibri"/>
                <a:cs typeface="Calibri"/>
              </a:rPr>
              <a:t> - CI/CD Workflow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622668-FBCA-94C3-4CC3-3A46C7D2294D}"/>
              </a:ext>
            </a:extLst>
          </p:cNvPr>
          <p:cNvSpPr/>
          <p:nvPr/>
        </p:nvSpPr>
        <p:spPr>
          <a:xfrm>
            <a:off x="3170584" y="1712839"/>
            <a:ext cx="1786830" cy="45642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Nightly / OnDemand Builds for all modules </a:t>
            </a:r>
            <a:endParaRPr lang="en-US"/>
          </a:p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==&gt; Individual BKCs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(EAM, CPU, </a:t>
            </a:r>
            <a:r>
              <a:rPr lang="en-US" err="1">
                <a:solidFill>
                  <a:srgbClr val="1832DB"/>
                </a:solidFill>
                <a:ea typeface="Calibri"/>
                <a:cs typeface="Calibri"/>
              </a:rPr>
              <a:t>etc</a:t>
            </a:r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D09FD-C7F1-18C8-A528-F4408C20F99E}"/>
              </a:ext>
            </a:extLst>
          </p:cNvPr>
          <p:cNvSpPr txBox="1"/>
          <p:nvPr/>
        </p:nvSpPr>
        <p:spPr>
          <a:xfrm>
            <a:off x="302891" y="98648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CE8B2-D8A2-3BF3-DC67-309F3EDE4591}"/>
              </a:ext>
            </a:extLst>
          </p:cNvPr>
          <p:cNvSpPr txBox="1"/>
          <p:nvPr/>
        </p:nvSpPr>
        <p:spPr>
          <a:xfrm>
            <a:off x="451963" y="841831"/>
            <a:ext cx="19922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Component's</a:t>
            </a:r>
          </a:p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Source Code*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E0274-A308-47EB-9699-6334785B2A6B}"/>
              </a:ext>
            </a:extLst>
          </p:cNvPr>
          <p:cNvSpPr txBox="1"/>
          <p:nvPr/>
        </p:nvSpPr>
        <p:spPr>
          <a:xfrm>
            <a:off x="302878" y="6363569"/>
            <a:ext cx="111307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* Goal is to build everything from source code </a:t>
            </a:r>
            <a:r>
              <a:rPr lang="en-US" err="1">
                <a:ea typeface="Calibri"/>
                <a:cs typeface="Calibri"/>
              </a:rPr>
              <a:t>san</a:t>
            </a:r>
            <a:r>
              <a:rPr lang="en-US">
                <a:ea typeface="Calibri"/>
                <a:cs typeface="Calibri"/>
              </a:rPr>
              <a:t> some exceptions (3rd party binaries from </a:t>
            </a:r>
            <a:r>
              <a:rPr lang="en-US" err="1">
                <a:ea typeface="Calibri"/>
                <a:cs typeface="Calibri"/>
              </a:rPr>
              <a:t>sanmina</a:t>
            </a:r>
            <a:r>
              <a:rPr lang="en-US">
                <a:ea typeface="Calibri"/>
                <a:cs typeface="Calibri"/>
              </a:rPr>
              <a:t>, meta s/w, </a:t>
            </a:r>
            <a:r>
              <a:rPr lang="en-US" err="1">
                <a:ea typeface="Calibri"/>
                <a:cs typeface="Calibri"/>
              </a:rPr>
              <a:t>etc</a:t>
            </a:r>
            <a:r>
              <a:rPr lang="en-US">
                <a:ea typeface="Calibri"/>
                <a:cs typeface="Calibri"/>
              </a:rPr>
              <a:t>)  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CCEFA7-D6AE-3D28-0BBD-1523A206177C}"/>
              </a:ext>
            </a:extLst>
          </p:cNvPr>
          <p:cNvSpPr txBox="1"/>
          <p:nvPr/>
        </p:nvSpPr>
        <p:spPr>
          <a:xfrm>
            <a:off x="3050856" y="988691"/>
            <a:ext cx="383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rgbClr val="1832DB"/>
                </a:solidFill>
                <a:ea typeface="Calibri"/>
                <a:cs typeface="Calibri"/>
              </a:rPr>
              <a:t>UnderTheRock</a:t>
            </a:r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 Super-Repo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0A1531F1-F4DE-4164-2E40-FA53647F8625}"/>
              </a:ext>
            </a:extLst>
          </p:cNvPr>
          <p:cNvSpPr/>
          <p:nvPr/>
        </p:nvSpPr>
        <p:spPr>
          <a:xfrm>
            <a:off x="5182793" y="1809009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EAM BKC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5A2CFA8-646C-E035-5ECF-17CC6F26BB01}"/>
              </a:ext>
            </a:extLst>
          </p:cNvPr>
          <p:cNvSpPr/>
          <p:nvPr/>
        </p:nvSpPr>
        <p:spPr>
          <a:xfrm>
            <a:off x="5182793" y="2460574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CPU BKC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27648E44-7C34-6E29-18C2-379F6203D37F}"/>
              </a:ext>
            </a:extLst>
          </p:cNvPr>
          <p:cNvSpPr/>
          <p:nvPr/>
        </p:nvSpPr>
        <p:spPr>
          <a:xfrm>
            <a:off x="5182793" y="3090052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AINIC BKC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5C03923A-5E83-921A-8625-4DEF29EF253E}"/>
              </a:ext>
            </a:extLst>
          </p:cNvPr>
          <p:cNvSpPr/>
          <p:nvPr/>
        </p:nvSpPr>
        <p:spPr>
          <a:xfrm>
            <a:off x="5182793" y="3841008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rgbClr val="1832DB"/>
                </a:solidFill>
                <a:ea typeface="Calibri"/>
                <a:cs typeface="Calibri"/>
              </a:rPr>
              <a:t>Non-EAM/CPU Comp Tray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E10C3F26-1311-BEE7-B3A3-2B213B6C154A}"/>
              </a:ext>
            </a:extLst>
          </p:cNvPr>
          <p:cNvSpPr/>
          <p:nvPr/>
        </p:nvSpPr>
        <p:spPr>
          <a:xfrm>
            <a:off x="5182793" y="4536747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AIFM BKC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B9B57B3D-48FB-7FDB-EC5A-7331C136EACC}"/>
              </a:ext>
            </a:extLst>
          </p:cNvPr>
          <p:cNvSpPr/>
          <p:nvPr/>
        </p:nvSpPr>
        <p:spPr>
          <a:xfrm>
            <a:off x="5182793" y="5210399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TOOLS</a:t>
            </a:r>
            <a:endParaRPr lang="en-US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EA663C78-C110-23EF-E7EF-BB4B177120C6}"/>
              </a:ext>
            </a:extLst>
          </p:cNvPr>
          <p:cNvSpPr/>
          <p:nvPr/>
        </p:nvSpPr>
        <p:spPr>
          <a:xfrm>
            <a:off x="5182793" y="5812268"/>
            <a:ext cx="1312892" cy="36315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DIAGS</a:t>
            </a:r>
            <a:endParaRPr lang="en-US"/>
          </a:p>
        </p:txBody>
      </p:sp>
      <p:pic>
        <p:nvPicPr>
          <p:cNvPr id="25" name="Picture 24" descr="A blue line on a white background&#10;&#10;AI-generated content may be incorrect.">
            <a:extLst>
              <a:ext uri="{FF2B5EF4-FFF2-40B4-BE49-F238E27FC236}">
                <a16:creationId xmlns:a16="http://schemas.microsoft.com/office/drawing/2014/main" id="{2FB0CCE4-489B-489C-5143-DA7C55F3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25" y="1568174"/>
            <a:ext cx="800158" cy="4803914"/>
          </a:xfrm>
          <a:prstGeom prst="rect">
            <a:avLst/>
          </a:prstGeom>
        </p:spPr>
      </p:pic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BAB9C48F-C4ED-7445-FB62-E5F22A348DF8}"/>
              </a:ext>
            </a:extLst>
          </p:cNvPr>
          <p:cNvSpPr/>
          <p:nvPr/>
        </p:nvSpPr>
        <p:spPr>
          <a:xfrm>
            <a:off x="7167265" y="3654948"/>
            <a:ext cx="1515448" cy="58500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Rack Recipe ^ 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7" name="Picture 26" descr="A blue and green arrows&#10;&#10;AI-generated content may be incorrect.">
            <a:extLst>
              <a:ext uri="{FF2B5EF4-FFF2-40B4-BE49-F238E27FC236}">
                <a16:creationId xmlns:a16="http://schemas.microsoft.com/office/drawing/2014/main" id="{2DAB4DB2-2546-DB32-D214-55A0E4CF69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46" t="536" r="-395" b="801"/>
          <a:stretch>
            <a:fillRect/>
          </a:stretch>
        </p:blipFill>
        <p:spPr>
          <a:xfrm>
            <a:off x="9102915" y="3629069"/>
            <a:ext cx="609553" cy="594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01A1DB8-D3CC-ED6D-C972-1CD1A9042555}"/>
              </a:ext>
            </a:extLst>
          </p:cNvPr>
          <p:cNvSpPr txBox="1"/>
          <p:nvPr/>
        </p:nvSpPr>
        <p:spPr>
          <a:xfrm>
            <a:off x="8791116" y="2829866"/>
            <a:ext cx="12109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1832DB"/>
                </a:solidFill>
                <a:ea typeface="Calibri"/>
                <a:cs typeface="Calibri"/>
              </a:rPr>
              <a:t>^ UTR</a:t>
            </a:r>
          </a:p>
          <a:p>
            <a:pPr algn="ctr"/>
            <a:r>
              <a:rPr lang="en-US" sz="1600">
                <a:solidFill>
                  <a:srgbClr val="1832DB"/>
                </a:solidFill>
                <a:ea typeface="Calibri"/>
                <a:cs typeface="Calibri"/>
              </a:rPr>
              <a:t>Recipe</a:t>
            </a:r>
          </a:p>
          <a:p>
            <a:pPr algn="ctr"/>
            <a:r>
              <a:rPr lang="en-US" sz="1600">
                <a:solidFill>
                  <a:srgbClr val="1832DB"/>
                </a:solidFill>
                <a:ea typeface="Calibri"/>
                <a:cs typeface="Calibri"/>
              </a:rPr>
              <a:t>Resolver</a:t>
            </a:r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398036-4165-AD09-8908-92979EB5428B}"/>
              </a:ext>
            </a:extLst>
          </p:cNvPr>
          <p:cNvSpPr/>
          <p:nvPr/>
        </p:nvSpPr>
        <p:spPr>
          <a:xfrm>
            <a:off x="8749916" y="4600783"/>
            <a:ext cx="1165181" cy="5935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Component &amp; Basic Rack Tests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30" name="Arrow: Up-Down 29">
            <a:extLst>
              <a:ext uri="{FF2B5EF4-FFF2-40B4-BE49-F238E27FC236}">
                <a16:creationId xmlns:a16="http://schemas.microsoft.com/office/drawing/2014/main" id="{1A6B6B85-442C-9E32-EE14-D7EF8CC02F9F}"/>
              </a:ext>
            </a:extLst>
          </p:cNvPr>
          <p:cNvSpPr/>
          <p:nvPr/>
        </p:nvSpPr>
        <p:spPr>
          <a:xfrm>
            <a:off x="9283881" y="4220028"/>
            <a:ext cx="225110" cy="365804"/>
          </a:xfrm>
          <a:prstGeom prst="upDown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38067793-3224-B53F-7AA6-10CC81C644C6}"/>
              </a:ext>
            </a:extLst>
          </p:cNvPr>
          <p:cNvSpPr/>
          <p:nvPr/>
        </p:nvSpPr>
        <p:spPr>
          <a:xfrm rot="5400000">
            <a:off x="8814533" y="3772767"/>
            <a:ext cx="225110" cy="365804"/>
          </a:xfrm>
          <a:prstGeom prst="upDown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82F3E2-92BC-32E5-4735-14645BAA4993}"/>
              </a:ext>
            </a:extLst>
          </p:cNvPr>
          <p:cNvSpPr/>
          <p:nvPr/>
        </p:nvSpPr>
        <p:spPr>
          <a:xfrm>
            <a:off x="11246300" y="3310166"/>
            <a:ext cx="917752" cy="1310074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LKG Rack Recipe</a:t>
            </a:r>
          </a:p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(Last Known Good)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4F3635-B435-54C9-F19E-DF4EF7BEB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04" y="1431073"/>
            <a:ext cx="2624818" cy="482290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89958D-B6A8-3251-A21C-67C6DE29FB84}"/>
              </a:ext>
            </a:extLst>
          </p:cNvPr>
          <p:cNvSpPr/>
          <p:nvPr/>
        </p:nvSpPr>
        <p:spPr>
          <a:xfrm>
            <a:off x="10100297" y="4576668"/>
            <a:ext cx="1078371" cy="5935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1832DB"/>
                </a:solidFill>
                <a:ea typeface="Calibri"/>
                <a:cs typeface="Calibri"/>
              </a:rPr>
              <a:t>Rack CI Tests</a:t>
            </a:r>
          </a:p>
        </p:txBody>
      </p:sp>
      <p:pic>
        <p:nvPicPr>
          <p:cNvPr id="9" name="Picture 8" descr="A blue and green arrows&#10;&#10;AI-generated content may be incorrect.">
            <a:extLst>
              <a:ext uri="{FF2B5EF4-FFF2-40B4-BE49-F238E27FC236}">
                <a16:creationId xmlns:a16="http://schemas.microsoft.com/office/drawing/2014/main" id="{A9A5448D-A6F3-1CE2-B41E-0A8D6386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46" t="536" r="-395" b="801"/>
          <a:stretch>
            <a:fillRect/>
          </a:stretch>
        </p:blipFill>
        <p:spPr>
          <a:xfrm>
            <a:off x="10231444" y="3633891"/>
            <a:ext cx="609554" cy="603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919001-793F-62A2-6460-32F7C54DB073}"/>
              </a:ext>
            </a:extLst>
          </p:cNvPr>
          <p:cNvSpPr txBox="1"/>
          <p:nvPr/>
        </p:nvSpPr>
        <p:spPr>
          <a:xfrm>
            <a:off x="9963052" y="2849156"/>
            <a:ext cx="12205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F79646"/>
                </a:solidFill>
                <a:ea typeface="Calibri"/>
                <a:cs typeface="Calibri"/>
              </a:rPr>
              <a:t>DPEG</a:t>
            </a:r>
            <a:endParaRPr lang="en-US">
              <a:solidFill>
                <a:srgbClr val="F79646"/>
              </a:solidFill>
            </a:endParaRPr>
          </a:p>
          <a:p>
            <a:pPr algn="ctr"/>
            <a:r>
              <a:rPr lang="en-US" sz="1600">
                <a:solidFill>
                  <a:srgbClr val="F79646"/>
                </a:solidFill>
                <a:ea typeface="Calibri"/>
                <a:cs typeface="Calibri"/>
              </a:rPr>
              <a:t>Recipe</a:t>
            </a:r>
          </a:p>
          <a:p>
            <a:pPr algn="ctr"/>
            <a:r>
              <a:rPr lang="en-US" sz="1600">
                <a:solidFill>
                  <a:srgbClr val="F79646"/>
                </a:solidFill>
                <a:ea typeface="Calibri"/>
                <a:cs typeface="Calibri"/>
              </a:rPr>
              <a:t>Resolver</a:t>
            </a: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467BF3E4-E295-414B-D58B-432BC1B5CBFE}"/>
              </a:ext>
            </a:extLst>
          </p:cNvPr>
          <p:cNvSpPr/>
          <p:nvPr/>
        </p:nvSpPr>
        <p:spPr>
          <a:xfrm>
            <a:off x="10422057" y="4224850"/>
            <a:ext cx="225110" cy="365804"/>
          </a:xfrm>
          <a:prstGeom prst="upDownArrow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D6EB7342-6DCA-5BD3-E6F2-8CA5CEA6431F}"/>
              </a:ext>
            </a:extLst>
          </p:cNvPr>
          <p:cNvSpPr/>
          <p:nvPr/>
        </p:nvSpPr>
        <p:spPr>
          <a:xfrm rot="5400000">
            <a:off x="10897976" y="3753475"/>
            <a:ext cx="225110" cy="365804"/>
          </a:xfrm>
          <a:prstGeom prst="upDownArrow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E69C162A-1944-CC97-D808-6546B67D8A1F}"/>
              </a:ext>
            </a:extLst>
          </p:cNvPr>
          <p:cNvSpPr/>
          <p:nvPr/>
        </p:nvSpPr>
        <p:spPr>
          <a:xfrm rot="5400000">
            <a:off x="9817671" y="3763121"/>
            <a:ext cx="225110" cy="365804"/>
          </a:xfrm>
          <a:prstGeom prst="upDown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0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6479-92BA-5FC9-1FBB-3E5F497C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610" y="312113"/>
            <a:ext cx="8229600" cy="593203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DPEG - Rack Recipe Test Flow</a:t>
            </a:r>
            <a:endParaRPr lang="en-US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344CEBF4-89C6-D100-8AB6-187306F5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34" y="1141069"/>
            <a:ext cx="10333173" cy="540830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55A355-CA75-E83E-2472-2D9BBA31040F}"/>
              </a:ext>
            </a:extLst>
          </p:cNvPr>
          <p:cNvSpPr/>
          <p:nvPr/>
        </p:nvSpPr>
        <p:spPr>
          <a:xfrm>
            <a:off x="1043353" y="1260230"/>
            <a:ext cx="3525383" cy="48064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2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6479-92BA-5FC9-1FBB-3E5F497C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31" y="312113"/>
            <a:ext cx="10645814" cy="593203"/>
          </a:xfrm>
        </p:spPr>
        <p:txBody>
          <a:bodyPr>
            <a:normAutofit fontScale="90000"/>
          </a:bodyPr>
          <a:lstStyle/>
          <a:p>
            <a:r>
              <a:rPr lang="en-US" err="1">
                <a:ea typeface="Calibri"/>
                <a:cs typeface="Calibri"/>
              </a:rPr>
              <a:t>UnderTheRock</a:t>
            </a:r>
            <a:r>
              <a:rPr lang="en-US">
                <a:ea typeface="Calibri"/>
                <a:cs typeface="Calibri"/>
              </a:rPr>
              <a:t> + DPEG - Rack Recipe Test Flow</a:t>
            </a:r>
            <a:endParaRPr lang="en-US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344CEBF4-89C6-D100-8AB6-187306F5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34" y="1141069"/>
            <a:ext cx="10333173" cy="540830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55A355-CA75-E83E-2472-2D9BBA31040F}"/>
              </a:ext>
            </a:extLst>
          </p:cNvPr>
          <p:cNvSpPr/>
          <p:nvPr/>
        </p:nvSpPr>
        <p:spPr>
          <a:xfrm>
            <a:off x="1043353" y="1260230"/>
            <a:ext cx="3399991" cy="48064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solidFill>
                  <a:srgbClr val="1832DB"/>
                </a:solidFill>
                <a:ea typeface="Calibri"/>
                <a:cs typeface="Calibri"/>
              </a:rPr>
              <a:t>UnderTheRock</a:t>
            </a:r>
            <a:endParaRPr lang="en-US">
              <a:solidFill>
                <a:srgbClr val="1832DB"/>
              </a:solidFill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provides</a:t>
            </a:r>
          </a:p>
          <a:p>
            <a:pPr algn="ctr"/>
            <a:r>
              <a:rPr lang="en-US">
                <a:solidFill>
                  <a:srgbClr val="1832DB"/>
                </a:solidFill>
                <a:ea typeface="Calibri"/>
                <a:cs typeface="Calibri"/>
              </a:rPr>
              <a:t>Candidate Rack SW-FW Recipe</a:t>
            </a:r>
          </a:p>
        </p:txBody>
      </p:sp>
    </p:spTree>
    <p:extLst>
      <p:ext uri="{BB962C8B-B14F-4D97-AF65-F5344CB8AC3E}">
        <p14:creationId xmlns:p14="http://schemas.microsoft.com/office/powerpoint/2010/main" val="1281686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8B26-C482-1273-9BAE-4E0BE4D7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7392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CI/CD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B91C-5D23-D781-6625-BD2C66B8F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766"/>
            <a:ext cx="10841382" cy="5144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>
                <a:ea typeface="+mn-lt"/>
                <a:cs typeface="+mn-lt"/>
              </a:rPr>
              <a:t>Individual component's CI/CD: Pre-</a:t>
            </a:r>
            <a:r>
              <a:rPr lang="en-US" sz="2400" err="1">
                <a:ea typeface="+mn-lt"/>
                <a:cs typeface="+mn-lt"/>
              </a:rPr>
              <a:t>Checkin</a:t>
            </a:r>
            <a:r>
              <a:rPr lang="en-US" sz="2400">
                <a:ea typeface="+mn-lt"/>
                <a:cs typeface="+mn-lt"/>
              </a:rPr>
              <a:t> for all commits</a:t>
            </a:r>
          </a:p>
          <a:p>
            <a:pPr marL="457200" indent="-457200">
              <a:buAutoNum type="arabicPeriod"/>
            </a:pPr>
            <a:r>
              <a:rPr lang="en-US" sz="2400" err="1">
                <a:ea typeface="+mn-lt"/>
                <a:cs typeface="+mn-lt"/>
              </a:rPr>
              <a:t>UnderTheRock</a:t>
            </a:r>
            <a:r>
              <a:rPr lang="en-US" sz="2400">
                <a:ea typeface="+mn-lt"/>
                <a:cs typeface="+mn-lt"/>
              </a:rPr>
              <a:t> build individual BKCs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400">
                <a:ea typeface="Calibri"/>
                <a:cs typeface="Calibri"/>
              </a:rPr>
              <a:t>UnderTheRock build SW-FW Rack Recipe / E2E BKC</a:t>
            </a:r>
            <a:endParaRPr lang="en-US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400">
                <a:ea typeface="Calibri"/>
                <a:cs typeface="Calibri"/>
              </a:rPr>
              <a:t>UnderTheRock</a:t>
            </a:r>
            <a:r>
              <a:rPr lang="en-US" sz="2400">
                <a:ea typeface="+mn-lt"/>
                <a:cs typeface="+mn-lt"/>
              </a:rPr>
              <a:t> run basic tests with SW-FW Rack Recipe / E2E BKC</a:t>
            </a:r>
            <a:endParaRPr lang="en-US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400">
                <a:ea typeface="+mn-lt"/>
                <a:cs typeface="+mn-lt"/>
              </a:rPr>
              <a:t>DPEG to run extended tests with SW-FW Rack Recipe / E2E BKC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>
                <a:ea typeface="+mn-lt"/>
                <a:cs typeface="+mn-lt"/>
              </a:rPr>
              <a:t>Declare LKG BKC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3515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8B26-C482-1273-9BAE-4E0BE4D7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7392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Phased Plan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B91C-5D23-D781-6625-BD2C66B8F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766"/>
            <a:ext cx="10841382" cy="5144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CI-Lite: Build BRP from BKC binaries, Run basic CI tests, Publish LKG</a:t>
            </a:r>
            <a:endParaRPr lang="en-US"/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Build EAM BKC from Sources in </a:t>
            </a:r>
            <a:r>
              <a:rPr lang="en-US" sz="2400" err="1">
                <a:ea typeface="Calibri"/>
                <a:cs typeface="Calibri"/>
              </a:rPr>
              <a:t>UnderTheRock</a:t>
            </a:r>
            <a:r>
              <a:rPr lang="en-US" sz="2400">
                <a:ea typeface="Calibri"/>
                <a:cs typeface="Calibri"/>
              </a:rPr>
              <a:t> </a:t>
            </a:r>
            <a:endParaRPr lang="en-US"/>
          </a:p>
          <a:p>
            <a:pPr marL="914400" lvl="1">
              <a:buFont typeface="Courier New"/>
              <a:buChar char="o"/>
            </a:pPr>
            <a:r>
              <a:rPr lang="en-US" sz="2000">
                <a:ea typeface="Calibri"/>
                <a:cs typeface="Calibri"/>
              </a:rPr>
              <a:t>Very few exceptions in taking binaries (3rd party binaries from Sanmina, </a:t>
            </a:r>
            <a:r>
              <a:rPr lang="en-US" sz="2000" err="1">
                <a:ea typeface="Calibri"/>
                <a:cs typeface="Calibri"/>
              </a:rPr>
              <a:t>etc</a:t>
            </a:r>
            <a:r>
              <a:rPr lang="en-US" sz="2000">
                <a:ea typeface="Calibri"/>
                <a:cs typeface="Calibri"/>
              </a:rPr>
              <a:t>) </a:t>
            </a:r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Nightly/on-demand E2E BKC built of Component BKCs built in </a:t>
            </a:r>
            <a:r>
              <a:rPr lang="en-US" sz="2400" err="1">
                <a:ea typeface="Calibri"/>
                <a:cs typeface="Calibri"/>
              </a:rPr>
              <a:t>UnderTheRock</a:t>
            </a:r>
            <a:endParaRPr lang="en-US" sz="2400">
              <a:ea typeface="Calibri"/>
              <a:cs typeface="Calibri"/>
            </a:endParaRPr>
          </a:p>
          <a:p>
            <a:pPr marL="914400" lvl="1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some BKCs need more time, start taking them directly until they are built in super-repo</a:t>
            </a:r>
          </a:p>
          <a:p>
            <a:pPr marL="514350" indent="-514350"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Rack Recipe tested in CI-Lite infra (short term)</a:t>
            </a:r>
          </a:p>
          <a:p>
            <a:pPr marL="514350" indent="-514350"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Rack Recipe tested in DPEG Rack Level Test Flows to declare LKG BKCs</a:t>
            </a:r>
          </a:p>
          <a:p>
            <a:pPr marL="514350" indent="-514350"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Build Automatic Bisection / Resolver workflows to pick right commits/components/BKCs </a:t>
            </a: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etc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to generate LKG BKCs</a:t>
            </a:r>
          </a:p>
          <a:p>
            <a:pPr marL="0" indent="0">
              <a:buNone/>
            </a:pP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Parallel Tracks:</a:t>
            </a:r>
          </a:p>
          <a:p>
            <a:pPr marL="457200" indent="-457200">
              <a:buAutoNum type="arabicPeriod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Generate multiple Rack Recipes for multiple customers and HW configurations </a:t>
            </a:r>
          </a:p>
        </p:txBody>
      </p:sp>
    </p:spTree>
    <p:extLst>
      <p:ext uri="{BB962C8B-B14F-4D97-AF65-F5344CB8AC3E}">
        <p14:creationId xmlns:p14="http://schemas.microsoft.com/office/powerpoint/2010/main" val="3708308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688F-F048-3466-D19B-70F93682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A02A-C901-BD1C-8E5A-AA338A28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7392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Ask for Component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35A8C-DA94-B8FF-CE52-8A3E09098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766"/>
            <a:ext cx="10841382" cy="5144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Add all modules to the </a:t>
            </a:r>
            <a:r>
              <a:rPr lang="en-US" sz="2400">
                <a:ea typeface="Calibri"/>
                <a:cs typeface="Calibri"/>
                <a:hlinkClick r:id="rId2"/>
              </a:rPr>
              <a:t>BKC modules</a:t>
            </a:r>
            <a:r>
              <a:rPr lang="en-US" sz="2400">
                <a:ea typeface="Calibri"/>
                <a:cs typeface="Calibri"/>
              </a:rPr>
              <a:t> sheet with details </a:t>
            </a:r>
            <a:r>
              <a:rPr lang="en-US" sz="1800">
                <a:ea typeface="Calibri"/>
                <a:cs typeface="Calibri"/>
              </a:rPr>
              <a:t>(BKC Name, Build Engineer, Source Repo, Build Recipe, Dependencies to build, </a:t>
            </a:r>
            <a:r>
              <a:rPr lang="en-US" sz="1800" err="1">
                <a:ea typeface="Calibri"/>
                <a:cs typeface="Calibri"/>
              </a:rPr>
              <a:t>etc</a:t>
            </a:r>
            <a:r>
              <a:rPr lang="en-US" sz="1800">
                <a:ea typeface="Calibri"/>
                <a:cs typeface="Calibri"/>
              </a:rPr>
              <a:t>)</a:t>
            </a:r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Provide source repo accesses and signing procedures to </a:t>
            </a:r>
            <a:r>
              <a:rPr lang="en-US" sz="2400" err="1">
                <a:ea typeface="Calibri"/>
                <a:cs typeface="Calibri"/>
              </a:rPr>
              <a:t>UnderTheRock</a:t>
            </a:r>
            <a:r>
              <a:rPr lang="en-US" sz="2400">
                <a:ea typeface="Calibri"/>
                <a:cs typeface="Calibri"/>
              </a:rPr>
              <a:t> build team</a:t>
            </a:r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Build engineer help reproduce the builds in “</a:t>
            </a:r>
            <a:r>
              <a:rPr lang="en-US" sz="2400" err="1">
                <a:ea typeface="Calibri"/>
                <a:cs typeface="Calibri"/>
              </a:rPr>
              <a:t>UnderTheRock</a:t>
            </a:r>
            <a:r>
              <a:rPr lang="en-US" sz="2400">
                <a:ea typeface="Calibri"/>
                <a:cs typeface="Calibri"/>
              </a:rPr>
              <a:t>” super-repo (contact Chris Sosa)</a:t>
            </a:r>
            <a:endParaRPr lang="en-US"/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Setup CI/CD tests for qualifying individual and E2E BKCs </a:t>
            </a:r>
          </a:p>
          <a:p>
            <a:pPr marL="514350" indent="-514350">
              <a:buAutoNum type="arabicPeriod"/>
            </a:pPr>
            <a:r>
              <a:rPr lang="en-US" sz="2400">
                <a:ea typeface="Calibri"/>
                <a:cs typeface="Calibri"/>
              </a:rPr>
              <a:t>Establish programmatic way of source code update/frequency/guidelines/hooks into super-repo</a:t>
            </a:r>
          </a:p>
        </p:txBody>
      </p:sp>
    </p:spTree>
    <p:extLst>
      <p:ext uri="{BB962C8B-B14F-4D97-AF65-F5344CB8AC3E}">
        <p14:creationId xmlns:p14="http://schemas.microsoft.com/office/powerpoint/2010/main" val="119875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PoC-First Approach with Phased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4063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0: PoC — Tiger Team</a:t>
            </a:r>
            <a:br/>
            <a:r>
              <a:t>  • Parallel probes: IFWI Builder API (Option A) vs. source build (Option B)</a:t>
            </a:r>
            <a:br/>
            <a:r>
              <a:t>  • PoC gate: Architecture decision → Phase 1 begins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1: Foundation</a:t>
            </a:r>
            <a:br/>
            <a:r>
              <a:t>  • IFWI build pipeline in GHA (based on PoC outcome)</a:t>
            </a:r>
            <a:br/>
            <a:r>
              <a:t>  • LKG manifest schema and tooling</a:t>
            </a:r>
            <a:br/>
            <a:r>
              <a:t>  • SimNow pre-submit live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2: Hardware Pre-Submit</a:t>
            </a:r>
            <a:br/>
            <a:r>
              <a:t>  • DCAuto integration for hardware testing</a:t>
            </a:r>
            <a:br/>
            <a:r>
              <a:t>  • Merge blocking enforced (&lt;30 min, &gt;90% pass rate)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3: Nightly Integration + </a:t>
            </a:r>
            <a:r>
              <a:rPr lang="en-US"/>
              <a:t>LKG</a:t>
            </a:r>
            <a:br>
              <a:rPr/>
            </a:br>
            <a:r>
              <a:t>  • 18 nightly builds running</a:t>
            </a:r>
            <a:br>
              <a:rPr/>
            </a:br>
            <a:r>
              <a:t>  • LKG promotion automation (83% quorum)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4: Gardening + Firmware Branches</a:t>
            </a:r>
            <a:br/>
            <a:r>
              <a:t>  • Oncall rotation established; revert automation</a:t>
            </a:r>
            <a:br/>
            <a:r>
              <a:t>  • All 6 firmware branches nightly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Phase 5: Release Traceability + Matrix Coverage</a:t>
            </a:r>
            <a:br/>
            <a:r>
              <a:t>  • Release manifests for every BKC</a:t>
            </a:r>
            <a:br/>
            <a:r>
              <a:t>  • Compatibility matrix coverage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568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4A4A"/>
                </a:solidFill>
              </a:rPr>
              <a:t>Note: Build mechanics, repo structure, and integration approach are TBD—determined by tiger team during PoC.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Status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Where We Are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Current Status: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Architecture designed around three principles (aligned with theRock's ROCm 7.0+ direction)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Implementation approach flexible (PoC determines mechanics)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Next action: Bootstrap tiger team (Eric Eaton + others)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What the Tiger Team Determines (PoC Phase):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IFWI build approach: Option A (IFWI Builder API) or Option B (source builds)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Repository structure: Super repos (like </a:t>
            </a:r>
            <a:r>
              <a:rPr err="1"/>
              <a:t>theRock</a:t>
            </a:r>
            <a:r>
              <a:t>) or individual component repos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Kernel CI integration: Build process, test harness, hardware pool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rPr err="1"/>
              <a:t>ROCm</a:t>
            </a:r>
            <a:r>
              <a:t> artifact generation: How </a:t>
            </a:r>
            <a:r>
              <a:rPr err="1"/>
              <a:t>theRock</a:t>
            </a:r>
            <a:r>
              <a:t> produces artifacts for </a:t>
            </a:r>
            <a:r>
              <a:rPr err="1"/>
              <a:t>UnderTheRock</a:t>
            </a:r>
            <a:r>
              <a:t> workflows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Signing pipeline: When and where signing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What Happens Next: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PoC completion: Architecture decision gate (Option A or B selected)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Phased implementation based on validated PoC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Deliverable: One unified platform where firmware, kernel, and </a:t>
            </a:r>
            <a:r>
              <a:rPr err="1"/>
              <a:t>ROCm</a:t>
            </a:r>
            <a:r>
              <a:t> developers work the same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8A00"/>
                </a:solidFill>
              </a:rPr>
              <a:t>This briefing is: An FYI on the direction and design. Resource planning for the tiger team is the immediate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1F7B0B9B71F74C9E8569B53E02F57F" ma:contentTypeVersion="15" ma:contentTypeDescription="Create a new document." ma:contentTypeScope="" ma:versionID="fe167f915a1a9824a30e9a4c940c1329">
  <xsd:schema xmlns:xsd="http://www.w3.org/2001/XMLSchema" xmlns:xs="http://www.w3.org/2001/XMLSchema" xmlns:p="http://schemas.microsoft.com/office/2006/metadata/properties" xmlns:ns2="2624a4fa-053e-47d5-ba1f-769d7ba61f62" xmlns:ns3="795ca9a7-ba87-4e11-85cd-722c8cf8b28f" targetNamespace="http://schemas.microsoft.com/office/2006/metadata/properties" ma:root="true" ma:fieldsID="47805b7ba13216a819fa97931fd8dc69" ns2:_="" ns3:_="">
    <xsd:import namespace="2624a4fa-053e-47d5-ba1f-769d7ba61f62"/>
    <xsd:import namespace="795ca9a7-ba87-4e11-85cd-722c8cf8b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Completed_x003f_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24a4fa-053e-47d5-ba1f-769d7ba61f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pleted_x003f_" ma:index="11" nillable="true" ma:displayName="Completed?" ma:default="0" ma:format="Dropdown" ma:internalName="Completed_x003f_">
      <xsd:simpleType>
        <xsd:restriction base="dms:Boolea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5ca9a7-ba87-4e11-85cd-722c8cf8b2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3ee0fc3-eef0-448c-b431-bbf6c01bed7d}" ma:internalName="TaxCatchAll" ma:showField="CatchAllData" ma:web="795ca9a7-ba87-4e11-85cd-722c8cf8b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pleted_x003f_ xmlns="2624a4fa-053e-47d5-ba1f-769d7ba61f62">false</Completed_x003f_>
    <lcf76f155ced4ddcb4097134ff3c332f xmlns="2624a4fa-053e-47d5-ba1f-769d7ba61f62">
      <Terms xmlns="http://schemas.microsoft.com/office/infopath/2007/PartnerControls"/>
    </lcf76f155ced4ddcb4097134ff3c332f>
    <TaxCatchAll xmlns="795ca9a7-ba87-4e11-85cd-722c8cf8b28f" xsi:nil="true"/>
  </documentManagement>
</p:properties>
</file>

<file path=customXml/itemProps1.xml><?xml version="1.0" encoding="utf-8"?>
<ds:datastoreItem xmlns:ds="http://schemas.openxmlformats.org/officeDocument/2006/customXml" ds:itemID="{5533248F-C3C4-4DB2-BC5B-4AD8B03C69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111EF4-BFDD-4B21-B7C7-C634E6A26EB0}">
  <ds:schemaRefs>
    <ds:schemaRef ds:uri="2624a4fa-053e-47d5-ba1f-769d7ba61f62"/>
    <ds:schemaRef ds:uri="795ca9a7-ba87-4e11-85cd-722c8cf8b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1A5DFDB-0D2B-41CA-8825-3108060D2862}">
  <ds:schemaRefs>
    <ds:schemaRef ds:uri="2624a4fa-053e-47d5-ba1f-769d7ba61f62"/>
    <ds:schemaRef ds:uri="795ca9a7-ba87-4e11-85cd-722c8cf8b28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UnderTheRock - CI/CD Workflow</vt:lpstr>
      <vt:lpstr>DPEG - Rack Recipe Test Flow</vt:lpstr>
      <vt:lpstr>UnderTheRock + DPEG - Rack Recipe Test Flow</vt:lpstr>
      <vt:lpstr>CI/CD Steps</vt:lpstr>
      <vt:lpstr>Phased Plan</vt:lpstr>
      <vt:lpstr>Ask for Component Owners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2026-05-04T22:25:57Z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[AMD Official Use Only - AMD Internal Distribution Only]</vt:lpwstr>
  </property>
  <property fmtid="{D5CDD505-2E9C-101B-9397-08002B2CF9AE}" pid="3" name="ClassificationContentMarkingHeaderLocations">
    <vt:lpwstr>Office Theme:8</vt:lpwstr>
  </property>
  <property fmtid="{D5CDD505-2E9C-101B-9397-08002B2CF9AE}" pid="4" name="MediaServiceImageTags">
    <vt:lpwstr/>
  </property>
  <property fmtid="{D5CDD505-2E9C-101B-9397-08002B2CF9AE}" pid="5" name="ContentTypeId">
    <vt:lpwstr>0x010100F11F7B0B9B71F74C9E8569B53E02F57F</vt:lpwstr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{"FileActivityType":"9","FileActivityTimeStamp":"2026-03-30T16:33:27.523Z","FileActivityUsersOnPage":[{"DisplayName":"Sosa, Chris","Id":"chrisosa@amd.com"},{"DisplayName":"Vemuri, Suchitra","Id":"svemuri@amd.com"}],"FileActivityNavigationId":null}</vt:lpwstr>
  </property>
  <property fmtid="{D5CDD505-2E9C-101B-9397-08002B2CF9AE}" pid="9" name="TriggerFlowInfo">
    <vt:lpwstr/>
  </property>
</Properties>
</file>